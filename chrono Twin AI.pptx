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0A193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 ·  PREDICTIVE DIGITAL TWIN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Predictive Digital Twin Framework for Multi-Scenario Decision Intelligence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tomorrow's decisions, today — across every possible timeline.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8412480" cy="0"/>
          </a:xfrm>
          <a:prstGeom prst="line">
            <a:avLst/>
          </a:prstGeom>
          <a:noFill/>
          <a:ln w="12700">
            <a:solidFill>
              <a:srgbClr val="2A44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CHRONO FORGE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559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Madhumitha. E   ·   Aishwarya   ·   Jeya Shree. 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PSNA College of Engineering and Technology, Dindigul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today are made looking in the rear-view mirror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A25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86584"/>
            <a:ext cx="457200" cy="45720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935224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Static, Backward-Looking Models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3355848"/>
            <a:ext cx="4745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analytics describe what already happened — they can't foresee how a decision plays out tomorrow.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A25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386584"/>
            <a:ext cx="457200" cy="45720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3952" y="2935224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Decision-Making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73952" y="3355848"/>
            <a:ext cx="4745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Operations, finance, and risk teams simulate scenarios independently, producing conflicting forecasts.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A25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809744"/>
            <a:ext cx="457200" cy="45720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5358384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Response to Disruption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96112" y="5779008"/>
            <a:ext cx="4745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shocks, demand shifts, or system failures are discovered after damage is done, not before.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A253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809744"/>
            <a:ext cx="457200" cy="45720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3952" y="5358384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'What-If'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73952" y="5779008"/>
            <a:ext cx="4745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lack a safe, living replica of their systems to test strategies before committing real resources.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OBJECTIVE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living digital twin that thinks in futures, not just facts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87752" cy="3291840"/>
          </a:xfrm>
          <a:prstGeom prst="roundRect">
            <a:avLst>
              <a:gd name="adj" fmla="val 3180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56032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1305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system behaviour minutes, days, or months ahead using continuously updated twin state.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83864" y="2286000"/>
            <a:ext cx="2587752" cy="3291840"/>
          </a:xfrm>
          <a:prstGeom prst="roundRect">
            <a:avLst>
              <a:gd name="adj" fmla="val 3180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712464" y="256032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11" name="Text 9"/>
          <p:cNvSpPr/>
          <p:nvPr/>
        </p:nvSpPr>
        <p:spPr>
          <a:xfrm>
            <a:off x="3712464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12464" y="3200400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12464" y="3657600"/>
            <a:ext cx="21305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parallel what-if timelines for every major decision lever, not a single forecast.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27648" y="2286000"/>
            <a:ext cx="2587752" cy="3291840"/>
          </a:xfrm>
          <a:prstGeom prst="roundRect">
            <a:avLst>
              <a:gd name="adj" fmla="val 3180"/>
            </a:avLst>
          </a:prstGeom>
          <a:solidFill>
            <a:srgbClr val="102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6248" y="2560320"/>
            <a:ext cx="502920" cy="50292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556248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56248" y="3200400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56248" y="3657600"/>
            <a:ext cx="21305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timeline on cost, risk, and outcome to recommend the optimal path of action.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71432" y="2286000"/>
            <a:ext cx="2587752" cy="3291840"/>
          </a:xfrm>
          <a:prstGeom prst="roundRect">
            <a:avLst>
              <a:gd name="adj" fmla="val 3180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400032" y="256032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9400032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00032" y="3200400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400032" y="3657600"/>
            <a:ext cx="21305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stakeholder — ops, finance, risk — one shared, explainable source of foresight.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AI: from real-time state to ranked decisions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loop that mirrors the real system, projects it forward across many futures, and scores each one so decision-makers act with foresight instead of guesswork.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7157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291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794760"/>
            <a:ext cx="20848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IoT, ERP &amp; transaction feeds update the twin's state every cycle.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45536" y="37719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56432" y="251460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7157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794760"/>
            <a:ext cx="20848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calibrated digital twin reconstructs the current system with high fidelity.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61888" y="37719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72784" y="251460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7157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73952" y="3291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3794760"/>
            <a:ext cx="20848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simulation forks the twin into multiple plausible futures.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37719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089136" y="251460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290304" y="27157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90304" y="3291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90304" y="3794760"/>
            <a:ext cx="20848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scores each scenario on risk, cost &amp; outcome to rank the best path.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architecture, top to bottom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162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0233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938528"/>
            <a:ext cx="6400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sensors, ERP/CRM systems, market feeds &amp; historical archives streamed in real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EFF5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90322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0233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825496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825496"/>
            <a:ext cx="6400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 and graph-based twin models that mirror assets, processes &amp; dependencies.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0273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79018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0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901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712464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Simulation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712464"/>
            <a:ext cx="6400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models fork the twin into multiple future timelines under varied conditions.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8970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EF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6771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0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6771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599432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Intelligence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4599432"/>
            <a:ext cx="6400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Reinforcement-learning agents rank scenarios on cost, risk &amp; strategic fit.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7667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55641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0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5641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486400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&amp; Action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5486400"/>
            <a:ext cx="6400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timelines and recommendations delivered to human decision-makers.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ChronoTwin AI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2350008"/>
            <a:ext cx="365760" cy="36576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Twin Sync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32826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calibrated against live sensor &amp; transactional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21488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350008"/>
            <a:ext cx="365760" cy="36576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Scenario Forking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2826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dozens of futures simultaneously, not one linear forecast.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21488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75904" y="2350008"/>
            <a:ext cx="365760" cy="36576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350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75904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Ranking Engine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75904" y="32826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ships with the reasoning and trade-offs behind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79392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" y="4480560"/>
            <a:ext cx="365760" cy="36576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4937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Risk-Aware Optimization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54132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cost, resilience &amp; compliance in every ranked decision path.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98264" y="4279392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480560"/>
            <a:ext cx="365760" cy="36576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4937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API 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54132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Plugs into existing ERP, SCADA &amp; BI tools without a rip-and-replace.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4279392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375904" y="4480560"/>
            <a:ext cx="365760" cy="36576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75904" y="4937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Cloud Scale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75904" y="54132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simulation load up or down with demand, on any major cloud.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present. Many futures. One best decision.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today's twin state, ChronoTwin AI forks simulation timelines for each candidate decision, then scores and ranks them before a single real-world action is taken.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371600" cy="3291840"/>
          </a:xfrm>
          <a:prstGeom prst="roundRect">
            <a:avLst>
              <a:gd name="adj" fmla="val 6000"/>
            </a:avLst>
          </a:prstGeom>
          <a:solidFill>
            <a:srgbClr val="10233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12848" y="2331720"/>
            <a:ext cx="2212848" cy="3291840"/>
          </a:xfrm>
          <a:prstGeom prst="roundRect">
            <a:avLst>
              <a:gd name="adj" fmla="val 3719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2350008" y="256032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 — Expand Capacity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50008" y="48006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throughput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2212848" cy="3291840"/>
          </a:xfrm>
          <a:prstGeom prst="roundRect">
            <a:avLst>
              <a:gd name="adj" fmla="val 371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56032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 — Delay Investment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9160" y="48006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-6% resilience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31152" y="2331720"/>
            <a:ext cx="2212848" cy="3291840"/>
          </a:xfrm>
          <a:prstGeom prst="roundRect">
            <a:avLst>
              <a:gd name="adj" fmla="val 3719"/>
            </a:avLst>
          </a:prstGeom>
          <a:solidFill>
            <a:srgbClr val="17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068312" y="249631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68312" y="288036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 — Hybrid Rollout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68312" y="48006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throughput, low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90304" y="2331720"/>
            <a:ext cx="2212848" cy="3291840"/>
          </a:xfrm>
          <a:prstGeom prst="roundRect">
            <a:avLst>
              <a:gd name="adj" fmla="val 3719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9427464" y="2560320"/>
            <a:ext cx="1938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 — Full Automation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27464" y="480060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throughput, high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 modern, modular AI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331720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Core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2770632"/>
            <a:ext cx="4745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agents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scenario models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forecasting (LSTM/Transformer)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6473952" y="2331720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73952" y="2770632"/>
            <a:ext cx="4745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/ SCADA streaming ingestion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database for asset relationships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 for twin state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70832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553712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Infrastructure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96112" y="4992624"/>
            <a:ext cx="4745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Kubernetes-orchestrated microservices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GPU simulation clusters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pipeline (Kafka)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370832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4553712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Layer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73952" y="4992624"/>
            <a:ext cx="4745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scenario dashboards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audit trails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GraphQL integration APIs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multi-scenario foresight pays 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10233F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23500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Manufacturing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9536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line failures and simulate production reroutes before downtime hits.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98264" y="21488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10233F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500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Systems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17720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patient flow &amp; staffing scenarios to prevent ER and ICU overload.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6448" y="21488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10233F"/>
          </a:solidFill>
          <a:ln/>
        </p:spPr>
      </p:sp>
      <p:sp>
        <p:nvSpPr>
          <p:cNvPr id="11" name="Text 9"/>
          <p:cNvSpPr/>
          <p:nvPr/>
        </p:nvSpPr>
        <p:spPr>
          <a:xfrm>
            <a:off x="8375904" y="23500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75904" y="29260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traffic, energy &amp; infrastructure responses to events in real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79392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480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&amp; Logistics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" y="505663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disruptions and test rerouting strategies across the network.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98264" y="4279392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480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Grids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17720" y="505663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load and renewable variability across demand-response scenarios.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6448" y="4279392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4480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Risk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75904" y="505663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 portfolios and operations against branching market conditions.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ChronoTwin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solidFill>
            <a:srgbClr val="0A19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foresight, with room to grow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4963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scenario testing vs. manual 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691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389120" y="24963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reduction in reactive downtime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0" y="1691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138160" y="24963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futures simulated per decision cycle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881360" cy="0"/>
          </a:xfrm>
          <a:prstGeom prst="line">
            <a:avLst/>
          </a:prstGeom>
          <a:noFill/>
          <a:ln w="12700">
            <a:solidFill>
              <a:srgbClr val="2A44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77056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that execute low-risk recommended actions automatically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201168" cy="20116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79976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twins linking multiple organizations for supply-chain-wide foresight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65192"/>
            <a:ext cx="201168" cy="20116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882896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scenario testing for cybersecurity &amp; climate resilience planning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ine 101"/>
          <p:cNvSpPr/>
          <p:nvPr/>
        </p:nvSpPr>
        <p:spPr>
          <a:xfrm>
            <a:off x="6300000" y="900000"/>
            <a:ext cx="4500000" cy="2650000"/>
          </a:xfrm>
          <a:prstGeom prst="line">
            <a:avLst/>
          </a:prstGeom>
          <a:noFill/>
          <a:ln w="9525">
            <a:solidFill>
              <a:srgbClr val="1A2F4C"/>
            </a:solidFill>
            <a:prstDash val="solid"/>
          </a:ln>
        </p:spPr>
      </p:sp>
      <p:sp>
        <p:nvSpPr>
          <p:cNvPr id="102" name="Line 102"/>
          <p:cNvSpPr/>
          <p:nvPr/>
        </p:nvSpPr>
        <p:spPr>
          <a:xfrm>
            <a:off x="6300000" y="2000000"/>
            <a:ext cx="4500000" cy="1550000"/>
          </a:xfrm>
          <a:prstGeom prst="line">
            <a:avLst/>
          </a:prstGeom>
          <a:noFill/>
          <a:ln w="9525">
            <a:solidFill>
              <a:srgbClr val="223C5E"/>
            </a:solidFill>
            <a:prstDash val="solid"/>
          </a:ln>
        </p:spPr>
      </p:sp>
      <p:sp>
        <p:nvSpPr>
          <p:cNvPr id="103" name="Line 103"/>
          <p:cNvSpPr/>
          <p:nvPr/>
        </p:nvSpPr>
        <p:spPr>
          <a:xfrm>
            <a:off x="6300000" y="3100000"/>
            <a:ext cx="4500000" cy="450000"/>
          </a:xfrm>
          <a:prstGeom prst="line">
            <a:avLst/>
          </a:prstGeom>
          <a:noFill/>
          <a:ln w="12700">
            <a:solidFill>
              <a:srgbClr val="2A4A70"/>
            </a:solidFill>
            <a:prstDash val="solid"/>
          </a:ln>
        </p:spPr>
      </p:sp>
      <p:sp>
        <p:nvSpPr>
          <p:cNvPr id="104" name="Line 104"/>
          <p:cNvSpPr/>
          <p:nvPr/>
        </p:nvSpPr>
        <p:spPr>
          <a:xfrm flipV="1">
            <a:off x="6300000" y="3550000"/>
            <a:ext cx="4500000" cy="650000"/>
          </a:xfrm>
          <a:prstGeom prst="line">
            <a:avLst/>
          </a:prstGeom>
          <a:noFill/>
          <a:ln w="12700">
            <a:solidFill>
              <a:srgbClr val="2A4A70"/>
            </a:solidFill>
            <a:prstDash val="solid"/>
          </a:ln>
        </p:spPr>
      </p:sp>
      <p:sp>
        <p:nvSpPr>
          <p:cNvPr id="105" name="Line 105"/>
          <p:cNvSpPr/>
          <p:nvPr/>
        </p:nvSpPr>
        <p:spPr>
          <a:xfrm flipV="1">
            <a:off x="6300000" y="3550000"/>
            <a:ext cx="4500000" cy="1750000"/>
          </a:xfrm>
          <a:prstGeom prst="line">
            <a:avLst/>
          </a:prstGeom>
          <a:noFill/>
          <a:ln w="9525">
            <a:solidFill>
              <a:srgbClr val="223C5E"/>
            </a:solidFill>
            <a:prstDash val="solid"/>
          </a:ln>
        </p:spPr>
      </p:sp>
      <p:sp>
        <p:nvSpPr>
          <p:cNvPr id="106" name="Line 106"/>
          <p:cNvSpPr/>
          <p:nvPr/>
        </p:nvSpPr>
        <p:spPr>
          <a:xfrm flipV="1">
            <a:off x="6300000" y="3550000"/>
            <a:ext cx="4500000" cy="2850000"/>
          </a:xfrm>
          <a:prstGeom prst="line">
            <a:avLst/>
          </a:prstGeom>
          <a:noFill/>
          <a:ln w="9525">
            <a:solidFill>
              <a:srgbClr val="1A2F4C"/>
            </a:solidFill>
            <a:prstDash val="solid"/>
          </a:ln>
        </p:spPr>
      </p:sp>
      <p:sp>
        <p:nvSpPr>
          <p:cNvPr id="120" name="Node"/>
          <p:cNvSpPr/>
          <p:nvPr/>
        </p:nvSpPr>
        <p:spPr>
          <a:xfrm>
            <a:off x="10662000" y="3412000"/>
            <a:ext cx="276000" cy="276000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21" name="NodeRing"/>
          <p:cNvSpPr/>
          <p:nvPr/>
        </p:nvSpPr>
        <p:spPr>
          <a:xfrm>
            <a:off x="10482000" y="3232000"/>
            <a:ext cx="636000" cy="636000"/>
          </a:xfrm>
          <a:prstGeom prst="ellipse">
            <a:avLst/>
          </a:prstGeom>
          <a:noFill/>
          <a:ln w="12700">
            <a:solidFill>
              <a:srgbClr val="17B8A6"/>
            </a:solidFill>
            <a:prstDash val="solid"/>
          </a:ln>
        </p:spPr>
      </p:sp>
      <p:sp>
        <p:nvSpPr>
          <p:cNvPr id="12" name="Eyebrow"/>
          <p:cNvSpPr/>
          <p:nvPr/>
        </p:nvSpPr>
        <p:spPr>
          <a:xfrm>
            <a:off x="731520" y="1600200"/>
            <a:ext cx="70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COMPLETE  ·  CHRONOTWIN AI</a:t>
            </a:r>
            <a:endParaRPr lang="en-US" sz="1300" dirty="0"/>
          </a:p>
        </p:txBody>
      </p:sp>
      <p:sp>
        <p:nvSpPr>
          <p:cNvPr id="13" name="Title"/>
          <p:cNvSpPr/>
          <p:nvPr/>
        </p:nvSpPr>
        <p:spPr>
          <a:xfrm>
            <a:off x="731520" y="2057400"/>
            <a:ext cx="8500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4" name="Subtitle"/>
          <p:cNvSpPr/>
          <p:nvPr/>
        </p:nvSpPr>
        <p:spPr>
          <a:xfrm>
            <a:off x="731520" y="3300000"/>
            <a:ext cx="730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present. Many futures. One moment we're grateful you spent with us.</a:t>
            </a:r>
            <a:endParaRPr lang="en-US" sz="1900" dirty="0"/>
          </a:p>
        </p:txBody>
      </p:sp>
      <p:sp>
        <p:nvSpPr>
          <p:cNvPr id="15" name="Divider"/>
          <p:cNvSpPr/>
          <p:nvPr/>
        </p:nvSpPr>
        <p:spPr>
          <a:xfrm>
            <a:off x="731520" y="5074920"/>
            <a:ext cx="6400000" cy="0"/>
          </a:xfrm>
          <a:prstGeom prst="line">
            <a:avLst/>
          </a:prstGeom>
          <a:noFill/>
          <a:ln w="12700">
            <a:solidFill>
              <a:srgbClr val="2A4468"/>
            </a:solidFill>
            <a:prstDash val="solid"/>
          </a:ln>
        </p:spPr>
      </p:sp>
      <p:sp>
        <p:nvSpPr>
          <p:cNvPr id="16" name="TeamLabel"/>
          <p:cNvSpPr/>
          <p:nvPr/>
        </p:nvSpPr>
        <p:spPr>
          <a:xfrm>
            <a:off x="73152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CHRONO FORGE AI</a:t>
            </a:r>
            <a:endParaRPr lang="en-US" sz="1100" dirty="0"/>
          </a:p>
        </p:txBody>
      </p:sp>
      <p:sp>
        <p:nvSpPr>
          <p:cNvPr id="17" name="Names"/>
          <p:cNvSpPr/>
          <p:nvPr/>
        </p:nvSpPr>
        <p:spPr>
          <a:xfrm>
            <a:off x="731520" y="5559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Madhumitha. E   ·   Aishwarya   ·   Jeya Shree. G</a:t>
            </a:r>
            <a:endParaRPr lang="en-US" sz="1500" dirty="0"/>
          </a:p>
        </p:txBody>
      </p:sp>
      <p:sp>
        <p:nvSpPr>
          <p:cNvPr id="18" name="College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PSNA College of Engineering and Technology, Dindigul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2026-08-05T05:18:37Z</dcterms:created>
  <dcterms:modified xsi:type="dcterms:W3CDTF">2026-08-05T05:18:37Z</dcterms:modified>
</cp:coreProperties>
</file>